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57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90" autoAdjust="0"/>
  </p:normalViewPr>
  <p:slideViewPr>
    <p:cSldViewPr snapToGrid="0">
      <p:cViewPr varScale="1">
        <p:scale>
          <a:sx n="85" d="100"/>
          <a:sy n="85" d="100"/>
        </p:scale>
        <p:origin x="59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apelli Lakshman" userId="bbc9c61d8eb0f04b" providerId="LiveId" clId="{7567F1FD-8A17-4855-85C0-89AC78F8B21A}"/>
    <pc:docChg chg="custSel modSld">
      <pc:chgData name="Marapelli Lakshman" userId="bbc9c61d8eb0f04b" providerId="LiveId" clId="{7567F1FD-8A17-4855-85C0-89AC78F8B21A}" dt="2026-01-09T09:30:45.499" v="32" actId="5793"/>
      <pc:docMkLst>
        <pc:docMk/>
      </pc:docMkLst>
      <pc:sldChg chg="modSp mod">
        <pc:chgData name="Marapelli Lakshman" userId="bbc9c61d8eb0f04b" providerId="LiveId" clId="{7567F1FD-8A17-4855-85C0-89AC78F8B21A}" dt="2026-01-09T09:30:45.499" v="32" actId="5793"/>
        <pc:sldMkLst>
          <pc:docMk/>
          <pc:sldMk cId="2143141334" sldId="265"/>
        </pc:sldMkLst>
        <pc:spChg chg="mod">
          <ac:chgData name="Marapelli Lakshman" userId="bbc9c61d8eb0f04b" providerId="LiveId" clId="{7567F1FD-8A17-4855-85C0-89AC78F8B21A}" dt="2026-01-09T09:30:45.499" v="32" actId="5793"/>
          <ac:spMkLst>
            <pc:docMk/>
            <pc:sldMk cId="2143141334" sldId="265"/>
            <ac:spMk id="7" creationId="{3D2576EA-F0CE-0B5F-05A5-96E0CF62A72C}"/>
          </ac:spMkLst>
        </pc:spChg>
        <pc:picChg chg="mod">
          <ac:chgData name="Marapelli Lakshman" userId="bbc9c61d8eb0f04b" providerId="LiveId" clId="{7567F1FD-8A17-4855-85C0-89AC78F8B21A}" dt="2026-01-09T09:30:24.100" v="26" actId="1076"/>
          <ac:picMkLst>
            <pc:docMk/>
            <pc:sldMk cId="2143141334" sldId="265"/>
            <ac:picMk id="12" creationId="{9BF36AD0-3213-8677-6D09-DBC9CE39CFE0}"/>
          </ac:picMkLst>
        </pc:picChg>
      </pc:sldChg>
      <pc:sldChg chg="modSp mod">
        <pc:chgData name="Marapelli Lakshman" userId="bbc9c61d8eb0f04b" providerId="LiveId" clId="{7567F1FD-8A17-4855-85C0-89AC78F8B21A}" dt="2026-01-09T09:17:44.606" v="11" actId="1076"/>
        <pc:sldMkLst>
          <pc:docMk/>
          <pc:sldMk cId="1353624099" sldId="266"/>
        </pc:sldMkLst>
        <pc:picChg chg="mod">
          <ac:chgData name="Marapelli Lakshman" userId="bbc9c61d8eb0f04b" providerId="LiveId" clId="{7567F1FD-8A17-4855-85C0-89AC78F8B21A}" dt="2026-01-09T09:17:44.606" v="11" actId="1076"/>
          <ac:picMkLst>
            <pc:docMk/>
            <pc:sldMk cId="1353624099" sldId="266"/>
            <ac:picMk id="5" creationId="{0BE64110-33C1-4F0F-1750-2F3F269F2F01}"/>
          </ac:picMkLst>
        </pc:picChg>
      </pc:sldChg>
      <pc:sldChg chg="addSp delSp modSp mod">
        <pc:chgData name="Marapelli Lakshman" userId="bbc9c61d8eb0f04b" providerId="LiveId" clId="{7567F1FD-8A17-4855-85C0-89AC78F8B21A}" dt="2026-01-09T08:55:13.877" v="10" actId="1076"/>
        <pc:sldMkLst>
          <pc:docMk/>
          <pc:sldMk cId="91877162" sldId="268"/>
        </pc:sldMkLst>
        <pc:spChg chg="del">
          <ac:chgData name="Marapelli Lakshman" userId="bbc9c61d8eb0f04b" providerId="LiveId" clId="{7567F1FD-8A17-4855-85C0-89AC78F8B21A}" dt="2026-01-09T08:54:04.585" v="0" actId="21"/>
          <ac:spMkLst>
            <pc:docMk/>
            <pc:sldMk cId="91877162" sldId="268"/>
            <ac:spMk id="2" creationId="{D3BF4C2E-CA6C-EA40-3B3B-3887FC8EF3C3}"/>
          </ac:spMkLst>
        </pc:spChg>
        <pc:spChg chg="add mod">
          <ac:chgData name="Marapelli Lakshman" userId="bbc9c61d8eb0f04b" providerId="LiveId" clId="{7567F1FD-8A17-4855-85C0-89AC78F8B21A}" dt="2026-01-09T08:55:13.877" v="10" actId="1076"/>
          <ac:spMkLst>
            <pc:docMk/>
            <pc:sldMk cId="91877162" sldId="268"/>
            <ac:spMk id="3" creationId="{C3BB6433-B684-D44D-F62A-1A0149B893DB}"/>
          </ac:spMkLst>
        </pc:spChg>
        <pc:picChg chg="mod">
          <ac:chgData name="Marapelli Lakshman" userId="bbc9c61d8eb0f04b" providerId="LiveId" clId="{7567F1FD-8A17-4855-85C0-89AC78F8B21A}" dt="2026-01-09T08:54:10.985" v="1" actId="1076"/>
          <ac:picMkLst>
            <pc:docMk/>
            <pc:sldMk cId="91877162" sldId="268"/>
            <ac:picMk id="5" creationId="{29E40B5B-454C-5428-FE74-A583C0BC502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EF25C-BB0B-4EDC-8B29-9138C87E8041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E998-9F91-47E5-B41F-96C7876EC2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20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46E998-9F91-47E5-B41F-96C7876EC2A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077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644E4-0802-D5D8-605F-C3202C777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EFF35B-0B7D-BEB6-2909-8FD8912AF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FBCFA-4DBA-ED4A-140C-FEDFAF98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121A1-82B2-AD75-E99D-C5BB83DE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7722D-FCC2-45BA-AF6F-4FD313FE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45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0DF8-7167-0BE4-7049-E458D040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CC4D7-AF22-BEA0-C66C-E22D720F4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556B-D551-D8E6-2AF8-C91878048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5D20F-93E4-A06B-8994-A067A739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2B046-883B-B2A3-09F6-FAFA6ACAE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258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EC38-D3AD-454E-F4B3-B5FA3A6A0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E5F12-735A-B953-EBF1-F3123915A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CFA88-B356-43BE-665F-AD6F1D519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BED07-5D4C-58C0-19E8-55674EFD3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8F040-1B00-838E-CD3F-8963D5AA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42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84CD-6281-99BB-B3CB-3194B6EEC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50879-698C-71BC-F5C4-5AD6BD059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EB5FE-7702-3DC7-0150-D78B62854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B274E-1F18-1CFA-2234-CBB649256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C5064-04FE-5EEF-FBC6-56511E53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49A69-C913-9A47-A201-313FF8FC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90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3950-B30D-7E2D-8E26-F4982E1C4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85659-F470-0148-A3C9-79E5E74C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EE6E2-B5EC-6CC5-2C0B-2323A9DB3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52983-68CB-AA97-B49F-0E83B3444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B22B-E139-1E0F-472C-9DAA79956E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27920-76FE-F92C-B06C-44238F19A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4F04BC-AAA0-FD0B-34CE-5E8574794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2AD60A-4F5D-5F00-782A-EE35A771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89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4DC4C-CDB6-A3C7-8C6E-80DC911C8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E5512-A387-C2C3-6CBD-8AB145B4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95D20-D515-1F4A-782B-A6A7E23A2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DAAA9-44A8-5088-C396-39977935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12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685418-0F65-55C1-60DD-7D324E0FF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CD4634-9C83-6EBC-FD11-0ED75F47C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5ED7E-D826-54D6-BB35-5B9FABA2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019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C00C-428A-91C8-3845-BF57C8A7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276ED-464C-81C5-D09F-C69236E07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F6286-6D45-9A6A-71B3-EAD4FE2D9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424B1-28A5-9E3E-3230-B6C313A5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72D26-8776-C8B6-B725-D966D027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DAF8D-9935-F989-4BD1-AA4B893D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8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30AE-9DB6-C1C3-9E3E-3A25168AE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D36AD8-FE41-BA1D-1A61-5A6467FDDE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88C68-563B-E493-8F8F-3BE7C2A95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25197F-37A0-FC09-E9BA-D060DCF0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AA32B-CF4D-277C-412A-D409387A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D8E0E-6B63-D956-C5D9-D40934195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259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583C-41B7-6E54-BB57-8884B5BC8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51FF-159F-E032-06E9-34C18BBA0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200A7-53B1-6918-1692-47477AE0A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5E398-601D-A529-283E-E15556453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E3C77-3673-A5FA-D3FC-D5E79834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099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F33611-7F40-5F3B-B526-F4579A1E47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B3ADC-E797-7A54-7D2B-13915F351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49062-43A1-AB00-9B3F-16E815AE8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DF17F-D52F-314E-8CFC-D7D1B8C0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8E082-B06F-C750-4B13-52F2E96F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22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A739A-9FDD-76AD-6D8C-9849DA895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973B9-2000-39EB-1C3A-E3A35A0B1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2AB0A-E859-85E7-09BE-D6E707164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25EC8-2AE4-4776-A8A0-B10E78AC285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CE76-F249-1A53-176D-239196D49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9D659-CD5B-54AC-CC89-17CC40CAD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D0AF8-5D25-493C-9A9B-C9C25658B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008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0A04-5A83-9BCC-FE25-DD9402D031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6669F-8C5C-6362-E8E4-C1040F44B4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59C2BA-61F3-E765-86EE-D5A528618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3209"/>
            <a:ext cx="12192000" cy="66934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AFFCEF-2360-ACCE-3224-878C26C1D6E7}"/>
              </a:ext>
            </a:extLst>
          </p:cNvPr>
          <p:cNvSpPr txBox="1"/>
          <p:nvPr/>
        </p:nvSpPr>
        <p:spPr>
          <a:xfrm>
            <a:off x="1043233" y="3602038"/>
            <a:ext cx="981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lgerian" panose="04020705040A02060702" pitchFamily="82" charset="0"/>
              </a:rPr>
              <a:t>EDA ON GOA’s HOLIDAY HOMES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64729-3B9F-784A-6095-CF2DC1E6D9D9}"/>
              </a:ext>
            </a:extLst>
          </p:cNvPr>
          <p:cNvSpPr txBox="1"/>
          <p:nvPr/>
        </p:nvSpPr>
        <p:spPr>
          <a:xfrm>
            <a:off x="7183225" y="5026709"/>
            <a:ext cx="29641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NAME:- YOGI AADESHKUMAR</a:t>
            </a:r>
          </a:p>
          <a:p>
            <a:r>
              <a:rPr lang="en-US" dirty="0"/>
              <a:t>BATCH:-450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04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7DDC-BEED-686A-3A3A-ACBC73D3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AC2A4-0F88-E593-0437-D5A4BDFAA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Business Problem</a:t>
            </a:r>
          </a:p>
          <a:p>
            <a:r>
              <a:rPr lang="en-US" dirty="0"/>
              <a:t>Tools Used</a:t>
            </a:r>
          </a:p>
          <a:p>
            <a:r>
              <a:rPr lang="en-US" dirty="0"/>
              <a:t>Scraping</a:t>
            </a:r>
          </a:p>
          <a:p>
            <a:r>
              <a:rPr lang="en-US" dirty="0"/>
              <a:t>Data Preprocessing and Cleaning</a:t>
            </a:r>
          </a:p>
          <a:p>
            <a:r>
              <a:rPr lang="en-US" dirty="0"/>
              <a:t>Dataset Overview</a:t>
            </a:r>
          </a:p>
          <a:p>
            <a:r>
              <a:rPr lang="en-US" dirty="0"/>
              <a:t>Univariate Analysis</a:t>
            </a:r>
          </a:p>
          <a:p>
            <a:r>
              <a:rPr lang="en-US" dirty="0"/>
              <a:t>Bivariate Analysis</a:t>
            </a:r>
          </a:p>
          <a:p>
            <a:r>
              <a:rPr lang="en-US" dirty="0"/>
              <a:t>Multivariate Analysis</a:t>
            </a:r>
          </a:p>
          <a:p>
            <a:r>
              <a:rPr lang="en-IN" sz="2800" dirty="0">
                <a:latin typeface="+mn-lt"/>
              </a:rPr>
              <a:t>Hypothesis Testing</a:t>
            </a:r>
            <a:endParaRPr lang="en-US" dirty="0"/>
          </a:p>
          <a:p>
            <a:r>
              <a:rPr lang="en-US" dirty="0"/>
              <a:t>Insights &amp; Recommendations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Q&amp;A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893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8E4A-21AB-A30A-F033-6BA6AC4D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43E2-7C58-3D1E-729A-952BD0CEC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0059" cy="1747134"/>
          </a:xfrm>
        </p:spPr>
        <p:txBody>
          <a:bodyPr/>
          <a:lstStyle/>
          <a:p>
            <a:r>
              <a:rPr lang="en-US" dirty="0"/>
              <a:t>New and emerging property owners often find it difficult to decide the right pricing for their villas and apartments. A poorly chosen price can either reduce customer interest or negatively impact ratings, making it challenging to balance reputation and revenue.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D4378-7BA3-1C22-98C1-A7D73EF247EA}"/>
              </a:ext>
            </a:extLst>
          </p:cNvPr>
          <p:cNvSpPr txBox="1"/>
          <p:nvPr/>
        </p:nvSpPr>
        <p:spPr>
          <a:xfrm>
            <a:off x="963891" y="3617536"/>
            <a:ext cx="60944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usiness</a:t>
            </a:r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</a:t>
            </a:r>
            <a:endParaRPr lang="en-IN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7BD30-B727-F406-87A8-01E19CCC02F0}"/>
              </a:ext>
            </a:extLst>
          </p:cNvPr>
          <p:cNvSpPr txBox="1"/>
          <p:nvPr/>
        </p:nvSpPr>
        <p:spPr>
          <a:xfrm>
            <a:off x="838200" y="4566086"/>
            <a:ext cx="107800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objective of this analysis is to assist new property owners in identifying an optimal pricing range that helps maintain positive customer ratings while ensuring stable and sustainable revenue growth.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18052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BEB3D-FE73-F6E2-50D3-8C61B463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0A8BD-C3EB-AA8E-EEBE-172B14CAE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Setting the right price is a key challenge for new property owners, as overpricing can reduce ratings while underpricing may lower revenue. This analysis examines the relationship between pricing and ratings to support better pricing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6834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5A762-BA28-1E80-01F2-21C95C0A7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Scraping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026D5-84DB-FBA1-3B65-76267EF7E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8882" y="1544853"/>
            <a:ext cx="10515600" cy="223732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Libraries Used &amp; Their Purpose</a:t>
            </a:r>
            <a:endParaRPr lang="en-US" sz="2000" b="1" dirty="0"/>
          </a:p>
          <a:p>
            <a:r>
              <a:rPr lang="en-US" sz="1800" b="1" dirty="0"/>
              <a:t>To analyze property prices, property types, and market trends in Goa Holiday homes, the following Python libraries were used to collect and process structured data from online property listing platforms.</a:t>
            </a:r>
            <a:endParaRPr lang="en-US" sz="1200" dirty="0"/>
          </a:p>
          <a:p>
            <a:r>
              <a:rPr lang="en-IN" sz="1800" b="1" i="1" dirty="0"/>
              <a:t>Selenium</a:t>
            </a:r>
            <a:r>
              <a:rPr lang="en-IN" sz="1800" dirty="0"/>
              <a:t>-Automated browser interaction</a:t>
            </a:r>
          </a:p>
          <a:p>
            <a:r>
              <a:rPr lang="en-IN" sz="1800" b="1" i="1" dirty="0" err="1"/>
              <a:t>BeautifulSoup</a:t>
            </a:r>
            <a:r>
              <a:rPr lang="en-IN" sz="1800" b="1" i="1" dirty="0"/>
              <a:t> (bs4)</a:t>
            </a:r>
            <a:r>
              <a:rPr lang="en-IN" sz="1800" dirty="0"/>
              <a:t>-</a:t>
            </a:r>
            <a:r>
              <a:rPr lang="en-US" sz="1800" dirty="0"/>
              <a:t>Parsed HTML content retrieved from Selenium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AEDAF-2956-50B3-EF90-BEB0471861AB}"/>
              </a:ext>
            </a:extLst>
          </p:cNvPr>
          <p:cNvSpPr txBox="1"/>
          <p:nvPr/>
        </p:nvSpPr>
        <p:spPr>
          <a:xfrm>
            <a:off x="838200" y="3429000"/>
            <a:ext cx="6852325" cy="3570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Scraping Process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Identified listing card containers from the website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Extracted key attributes such as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b="1" i="0" dirty="0" err="1">
                <a:effectLst/>
              </a:rPr>
              <a:t>Property_Name</a:t>
            </a:r>
            <a:endParaRPr lang="en-IN" sz="1400" b="1" i="0" dirty="0">
              <a:effectLst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Location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i="1" dirty="0" err="1"/>
              <a:t>Property_Type</a:t>
            </a:r>
            <a:endParaRPr lang="en-US" sz="1400" b="1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i="1" dirty="0" err="1"/>
              <a:t>Room_Type</a:t>
            </a:r>
            <a:endParaRPr lang="en-US" sz="1400" b="1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Price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Rating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i="1" dirty="0"/>
              <a:t>Reviews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i="1" dirty="0" err="1"/>
              <a:t>Free_Cancellation</a:t>
            </a:r>
            <a:endParaRPr lang="en-US" sz="1400" b="1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1504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F1374-EC91-F206-9A90-17472BA82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54773"/>
            <a:ext cx="8476129" cy="88136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&amp;Cleaning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97C675-7D7F-2CF6-3502-AE725DB0B6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3277811"/>
            <a:ext cx="10000129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schema and data types across property listings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data quality checks (nulls,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summary stats)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price and property details from text fields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Standardized units and handled missing values logically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a clean, analysis-ready dataset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7BC774-201E-8BDB-5B00-44366EDF9FA5}"/>
              </a:ext>
            </a:extLst>
          </p:cNvPr>
          <p:cNvSpPr txBox="1"/>
          <p:nvPr/>
        </p:nvSpPr>
        <p:spPr>
          <a:xfrm>
            <a:off x="838199" y="1542322"/>
            <a:ext cx="624433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Libraries Used &amp; Their Purpose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Pandas</a:t>
            </a:r>
            <a:r>
              <a:rPr lang="en-IN" dirty="0"/>
              <a:t>-</a:t>
            </a:r>
            <a:r>
              <a:rPr lang="en-US" dirty="0"/>
              <a:t>Data storage, cleaning, transformation, and validation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NumPy</a:t>
            </a:r>
            <a:r>
              <a:rPr lang="en-IN" dirty="0"/>
              <a:t>-</a:t>
            </a:r>
            <a:r>
              <a:rPr lang="en-US" dirty="0"/>
              <a:t>Numerical operations and missing-value handling</a:t>
            </a:r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5187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27FD4-6AFC-A747-BD96-128E2471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4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8BCD0-A5A2-65FA-7800-EA25CC75E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9233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The final cleaned dataset contains</a:t>
            </a:r>
          </a:p>
          <a:p>
            <a:pPr lvl="1"/>
            <a:r>
              <a:rPr lang="en-US" sz="1600" b="1" i="1" dirty="0"/>
              <a:t>552 rows and 10 columns</a:t>
            </a:r>
          </a:p>
          <a:p>
            <a:pPr marL="457200" lvl="1" indent="0">
              <a:buNone/>
            </a:pPr>
            <a:endParaRPr lang="en-US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b="1" dirty="0"/>
              <a:t>Key Columns &amp; Description</a:t>
            </a:r>
          </a:p>
          <a:p>
            <a:r>
              <a:rPr lang="en-US" sz="1600" b="1" dirty="0" err="1"/>
              <a:t>Project_Name</a:t>
            </a:r>
            <a:r>
              <a:rPr lang="en-US" sz="1600" dirty="0"/>
              <a:t> – Name of the Property</a:t>
            </a:r>
          </a:p>
          <a:p>
            <a:r>
              <a:rPr lang="en-US" sz="1600" b="1" dirty="0"/>
              <a:t>Location</a:t>
            </a:r>
            <a:r>
              <a:rPr lang="en-US" sz="1600" dirty="0"/>
              <a:t> – Area in Goa</a:t>
            </a:r>
          </a:p>
          <a:p>
            <a:r>
              <a:rPr lang="en-US" sz="1600" b="1" dirty="0" err="1"/>
              <a:t>Property_Type</a:t>
            </a:r>
            <a:r>
              <a:rPr lang="en-US" sz="1600" dirty="0"/>
              <a:t> – Type of property (Apartment, Villa)</a:t>
            </a:r>
          </a:p>
          <a:p>
            <a:r>
              <a:rPr lang="en-US" sz="1600" b="1" dirty="0" err="1"/>
              <a:t>Room_Type</a:t>
            </a:r>
            <a:r>
              <a:rPr lang="en-US" sz="1600" dirty="0"/>
              <a:t> – Features of room</a:t>
            </a:r>
          </a:p>
          <a:p>
            <a:r>
              <a:rPr lang="en-US" sz="1600" b="1" dirty="0"/>
              <a:t>Price</a:t>
            </a:r>
            <a:r>
              <a:rPr lang="en-US" sz="1600" dirty="0"/>
              <a:t> – Numeric listing price</a:t>
            </a:r>
          </a:p>
          <a:p>
            <a:r>
              <a:rPr lang="en-US" sz="1600" b="1" dirty="0"/>
              <a:t>Rating</a:t>
            </a:r>
            <a:r>
              <a:rPr lang="en-US" sz="1600" dirty="0"/>
              <a:t> – Rating of property out of 10</a:t>
            </a:r>
          </a:p>
          <a:p>
            <a:r>
              <a:rPr lang="en-US" sz="1600" b="1" dirty="0"/>
              <a:t>Reviews</a:t>
            </a:r>
            <a:r>
              <a:rPr lang="en-US" sz="1600" dirty="0"/>
              <a:t>– Reviews of property</a:t>
            </a:r>
          </a:p>
          <a:p>
            <a:r>
              <a:rPr lang="en-US" sz="1600" b="1" dirty="0" err="1"/>
              <a:t>Free_Cancellation</a:t>
            </a:r>
            <a:r>
              <a:rPr lang="en-US" sz="1600" dirty="0"/>
              <a:t>– Free cancellation available or not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351770-8717-46C3-8E88-7C39420F2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1495379"/>
            <a:ext cx="6591030" cy="283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71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BB12-94D3-F9ED-3702-E38DC214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8" y="69290"/>
            <a:ext cx="10546976" cy="70134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Uni-Variate Analysis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6C15FE-ADE3-8757-ECC9-20F4FE7B9944}"/>
              </a:ext>
            </a:extLst>
          </p:cNvPr>
          <p:cNvSpPr txBox="1"/>
          <p:nvPr/>
        </p:nvSpPr>
        <p:spPr>
          <a:xfrm>
            <a:off x="773945" y="5316720"/>
            <a:ext cx="10862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dirty="0"/>
              <a:t>Goa’s holiday home market is dominated by entire apartments and villas, with most listings priced in the mid-range and a few high-priced outliers.</a:t>
            </a:r>
            <a:endParaRPr lang="en-IN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348E34-AFA8-41AE-AD8C-B1D549968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90" y="1874655"/>
            <a:ext cx="11471819" cy="310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41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7984-9E40-D87B-6FCC-200D460EF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247"/>
            <a:ext cx="10107707" cy="77554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BI-Variate Analysis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D2576EA-F0CE-0B5F-05A5-96E0CF62A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69" y="5441009"/>
            <a:ext cx="104618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i="1" dirty="0"/>
              <a:t>Goa’s holiday home market shows higher pricing for villas, mid-range listings attract more reviews, and free cancellation plays a key role in listing availability.</a:t>
            </a:r>
            <a:endParaRPr kumimoji="0" lang="en-US" altLang="en-US" b="1" i="1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9B3475-5078-4E45-854F-9F5FC8F63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22" y="1628686"/>
            <a:ext cx="11460480" cy="306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41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15E33-571C-8F04-3FB4-11B0BC35B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825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Multi-Variate Analysis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08D9D8-D732-4D5B-B923-E52758ED0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69" y="1719767"/>
            <a:ext cx="10769235" cy="3418466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1233FFEC-8408-4270-A954-F15E79772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69" y="5441009"/>
            <a:ext cx="104618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b="1" i="1" dirty="0"/>
              <a:t>Villas and private suites command higher prices, free cancellation slightly influences pricing, while price shows weak correlation with ratings and reviews.</a:t>
            </a:r>
            <a:endParaRPr kumimoji="0" lang="en-US" altLang="en-US" b="1" i="1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624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6D38-7CED-46B7-A9F5-09856459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361329" cy="88096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  <a:latin typeface="+mn-lt"/>
              </a:rPr>
              <a:t>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26620-3C64-4E95-AA11-8D883A972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602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600" dirty="0"/>
              <a:t>Two variables: Categorical vs Numerical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Research Question</a:t>
            </a:r>
          </a:p>
          <a:p>
            <a:pPr lvl="1"/>
            <a:r>
              <a:rPr lang="en-US" sz="1600" dirty="0"/>
              <a:t>Does offering </a:t>
            </a:r>
            <a:r>
              <a:rPr lang="en-US" sz="1600" b="1" dirty="0"/>
              <a:t>free cancellation</a:t>
            </a:r>
            <a:r>
              <a:rPr lang="en-US" sz="1600" dirty="0"/>
              <a:t> have an impact on customer ratings?</a:t>
            </a:r>
          </a:p>
          <a:p>
            <a:pPr lvl="1"/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Hypotheses</a:t>
            </a:r>
          </a:p>
          <a:p>
            <a:pPr lvl="1"/>
            <a:r>
              <a:rPr lang="en-US" sz="1600" b="1" dirty="0"/>
              <a:t>H₀ (Null Hypothesis):</a:t>
            </a:r>
            <a:r>
              <a:rPr lang="en-US" sz="1600" dirty="0"/>
              <a:t> Free cancellation has no effect on customer ratings.</a:t>
            </a:r>
          </a:p>
          <a:p>
            <a:pPr lvl="1"/>
            <a:r>
              <a:rPr lang="en-US" sz="1600" b="1" dirty="0"/>
              <a:t>H₁ (Alternative Hypothesis):</a:t>
            </a:r>
            <a:r>
              <a:rPr lang="en-US" sz="1600" dirty="0"/>
              <a:t> Free cancellation has a significant effect on customer ratings.</a:t>
            </a:r>
          </a:p>
          <a:p>
            <a:pPr lvl="1"/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Test Used</a:t>
            </a:r>
          </a:p>
          <a:p>
            <a:pPr lvl="1"/>
            <a:r>
              <a:rPr lang="en-US" sz="1600" b="1" dirty="0"/>
              <a:t>One-way ANOVA</a:t>
            </a:r>
            <a:endParaRPr lang="en-US" sz="1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dirty="0"/>
              <a:t>P-value : 0.6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6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Interpretation</a:t>
            </a:r>
          </a:p>
          <a:p>
            <a:pPr lvl="1"/>
            <a:r>
              <a:rPr lang="en-US" sz="1600" dirty="0"/>
              <a:t>The p-value is greater than 0.05, so free cancellation does not significantly affect customer ratings.</a:t>
            </a:r>
            <a:endParaRPr lang="en-IN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A8F2BB-F743-44A4-9ACC-82236EA10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63470"/>
            <a:ext cx="5354300" cy="179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3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2D444-EA0E-4148-A5D0-BEB469520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989" y="4389530"/>
            <a:ext cx="9865659" cy="1491316"/>
          </a:xfrm>
        </p:spPr>
        <p:txBody>
          <a:bodyPr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 more on apartments and villas for better demand.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Keep prices competitive in the mid-range to attract guests.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Offer free cancellation to increase booking chances.</a:t>
            </a:r>
          </a:p>
          <a:p>
            <a:endParaRPr lang="en-IN" sz="2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1B9F61-9174-4851-A6B9-8DA09475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89" y="3471332"/>
            <a:ext cx="4495800" cy="551329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endParaRPr lang="en-IN" sz="3600" b="1" dirty="0">
              <a:solidFill>
                <a:srgbClr val="FF0000"/>
              </a:solidFill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</a:rPr>
              <a:t>Recommendations</a:t>
            </a:r>
            <a:endParaRPr lang="en-IN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D6933-05BB-4554-B822-A31FCCB4970A}"/>
              </a:ext>
            </a:extLst>
          </p:cNvPr>
          <p:cNvSpPr txBox="1"/>
          <p:nvPr/>
        </p:nvSpPr>
        <p:spPr>
          <a:xfrm>
            <a:off x="891989" y="546411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IN" sz="3600" b="1" dirty="0">
                <a:solidFill>
                  <a:srgbClr val="FF0000"/>
                </a:solidFill>
              </a:rPr>
              <a:t>Key 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685ADE-BFC0-4040-88EF-0EF362064923}"/>
              </a:ext>
            </a:extLst>
          </p:cNvPr>
          <p:cNvSpPr txBox="1"/>
          <p:nvPr/>
        </p:nvSpPr>
        <p:spPr>
          <a:xfrm>
            <a:off x="891989" y="1299942"/>
            <a:ext cx="98656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Entire apartments and villas dominate the market supply.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Mid-priced properties receive higher guest engagement and reviews.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Villas and private suites are positioned as premium offerings.</a:t>
            </a:r>
          </a:p>
        </p:txBody>
      </p:sp>
    </p:spTree>
    <p:extLst>
      <p:ext uri="{BB962C8B-B14F-4D97-AF65-F5344CB8AC3E}">
        <p14:creationId xmlns:p14="http://schemas.microsoft.com/office/powerpoint/2010/main" val="1204226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72633-3FC6-44F8-8BFD-D81FA8BA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0607"/>
            <a:ext cx="3177988" cy="800287"/>
          </a:xfrm>
        </p:spPr>
        <p:txBody>
          <a:bodyPr>
            <a:norm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IN" sz="3600" b="1" dirty="0">
                <a:solidFill>
                  <a:srgbClr val="FF0000"/>
                </a:solidFill>
                <a:latin typeface="+mn-lt"/>
              </a:rPr>
              <a:t>Conclusion</a:t>
            </a:r>
            <a:endParaRPr lang="en-IN" sz="1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EC692-ACE3-4706-8673-4B205A9AC6CE}"/>
              </a:ext>
            </a:extLst>
          </p:cNvPr>
          <p:cNvSpPr txBox="1"/>
          <p:nvPr/>
        </p:nvSpPr>
        <p:spPr>
          <a:xfrm flipH="1">
            <a:off x="838200" y="1763009"/>
            <a:ext cx="10331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market is mainly driven by apartments and villas.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properties are priced in the mid-range and get more bookings.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Villas are costlier, while ratings and reviews have little effect on price.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Free cancellation is common but has limited influence on pricing.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Ratings and reviews show weak correlation with price.</a:t>
            </a:r>
          </a:p>
        </p:txBody>
      </p:sp>
    </p:spTree>
    <p:extLst>
      <p:ext uri="{BB962C8B-B14F-4D97-AF65-F5344CB8AC3E}">
        <p14:creationId xmlns:p14="http://schemas.microsoft.com/office/powerpoint/2010/main" val="2301911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5F866C-2278-4201-9FAC-7221D0D51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518" y="1069041"/>
            <a:ext cx="7079876" cy="471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47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A2D7F9-2CE5-42DA-B0C3-12BE9EE30B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35" y="1342375"/>
            <a:ext cx="8346498" cy="417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36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662</Words>
  <Application>Microsoft Office PowerPoint</Application>
  <PresentationFormat>Widescreen</PresentationFormat>
  <Paragraphs>106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Agenda</vt:lpstr>
      <vt:lpstr>Business Problem</vt:lpstr>
      <vt:lpstr>Problem Statement</vt:lpstr>
      <vt:lpstr>Scraping </vt:lpstr>
      <vt:lpstr>Data Preprocessing &amp;Cleaning</vt:lpstr>
      <vt:lpstr>Dataset Overview</vt:lpstr>
      <vt:lpstr>Uni-Variate Analysis</vt:lpstr>
      <vt:lpstr>BI-Variate Analysis</vt:lpstr>
      <vt:lpstr>Multi-Variate Analysis</vt:lpstr>
      <vt:lpstr>Hypothesis Testing</vt:lpstr>
      <vt:lpstr> Recommendations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Marapelli Lakshman</dc:creator>
  <cp:lastModifiedBy>Aadesh Yogi</cp:lastModifiedBy>
  <cp:revision>24</cp:revision>
  <dcterms:created xsi:type="dcterms:W3CDTF">2026-01-09T08:37:34Z</dcterms:created>
  <dcterms:modified xsi:type="dcterms:W3CDTF">2026-02-07T07:32:55Z</dcterms:modified>
</cp:coreProperties>
</file>